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08960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SEG3525 – Conception et Analyse des Interfaces Usagers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Tutoriel – Devoir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94F37"/>
                </a:solidFill>
              </a:rPr>
              <a:t>Portfolio personnel · HTML / CSS / Bootstrap · Hébergement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Tutorial du 11 mai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Assistant d'enseignement · Section Z01 / Z02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Plan du tutoriel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80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Communication Visuelle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Principes de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2801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Couleurs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78308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Palette, contraste, accessibilité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60604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Typographie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0896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Polices, hiérarchie, lisibilité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514600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7432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60604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Iconographie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0896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Icônes standards et cohérence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690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9319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Structure HTML du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3484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Squelette de la page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0690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9319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CSS &amp; Bootstrap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43484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Mise en page responsive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66359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166359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39495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257799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Hébergement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76072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Netlify / GitHub Pages / Vercel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66359"/>
            <a:ext cx="530352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166359"/>
            <a:ext cx="50292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39495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257799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Checklist Devoir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76072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Ce qu'on évalue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Communication Visuelle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Pourquoi ça compte pour un portfolio 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· Expert virtuel – le but du design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Ressources &amp; Connaissances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Le système contient l'information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48640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78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Aptitudes de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UI = pont entre machine et humain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48640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Communication Verbale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6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Texte clair et concis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548640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39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Communication Visuelle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Couleurs · Typographie · Layout · Icônes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· Principes de Conception Visuelle (NN/g)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Échelle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Les éléments importants sont plus grands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097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Hiérarchie visuelle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L'œil suit un ordre intentionnel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Équilibre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Symétrie ou équilibre asymétrique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377440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377440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468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Contraste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Différence de couleur, taille, forme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49039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39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Gestalt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Proximité, similarité, continuité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49039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49039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Couleur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2976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Attire, organise, communique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20640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120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Typographie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Lisibilité et personnalité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120640"/>
            <a:ext cx="5486400" cy="11887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120640"/>
            <a:ext cx="320040" cy="1188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52120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Iconographie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6692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Aide rapide à la navigation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Couleurs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Palette, contraste et accessibilité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· Terminologie des couleurs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36576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5029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Teinte (Hue)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Position dans le spectre : rouge, bleu, vert…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566160" cy="5029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Saturation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Pureté de la couleur. Faible = grisâtre, fort = vif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566160" cy="5029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56616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143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Luminosité (Value)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Quantité de lumière. Du noir au blanc.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· 6 Règles d'or pour les couleurs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411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1704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01 · Refléter la personnalité du site (chaud / froid, saturé / doux)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92808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92808"/>
            <a:ext cx="411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02 · Limiter à 2–4 couleurs · Associer chaque couleur à un rôle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9776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411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44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03 · Penser MONOCHROME d'abord, ajouter la couleur ensuite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66744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66744"/>
            <a:ext cx="411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1335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04 · Assurer la lisibilité texte/fond (contraste teinte + luminosité)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53712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53712"/>
            <a:ext cx="411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183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05 · Utiliser la couleur pour attirer l'attention (CTA, navigation)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79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440679"/>
            <a:ext cx="41148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0527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06 · Utiliser la couleur pour communiquer les états (actif, visité…)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· Outils pour choisir votre 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Coolors.co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https://coolors.co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Génère des palettes harmonieuses en un clic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Adobe 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https://color.adobe.com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Roue chromatique + règles (complémentaires…)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Color Hunt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https://colorhunt.co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Palettes tendances validées par la communauté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Contrast Checker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https://webaim.org/resources/contrastchecker/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Vérifiez le ratio de contraste WCAG AA/AAA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Typographie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Polices, hiérarchie visuelle et lisibilité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· Petit guide typographique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1645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515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Personnalité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087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Choisir UNE police principale qui reflète l'identité du site
Ex: Serif = classique/élégant · Sans-serif = moderne/tech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486400" cy="1645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05840"/>
            <a:ext cx="54864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0515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5087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2 à 4 polices maximum · Associer chaque police à un rôle
(titres, corps, code, décoratif)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5486400" cy="1645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4864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Mise en valeur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375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Gras, italique, taille ↑ pour attirer l'attention
Utiliser avec modération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834640"/>
            <a:ext cx="5486400" cy="1645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4864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880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Hiérarchie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3375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2–4 tailles · H1 &gt; H2 &gt; body &gt; caption
La taille = l'importance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0" cy="1645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54864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16635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7091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Lisibilité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166359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Éviter les polices fantaisie pour le corps de texte
Min 16px pour le body · Alignement gauche pour paragraphes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5486400" cy="16459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663440"/>
            <a:ext cx="548640" cy="1645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16635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70915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Alignement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166359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Gauche = paragraphes longs · Centre = titres courts
Droite = délimitation d'espace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· Google Fonts – polices recommandées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1600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Sans-serif · Très lisible · Idéal pour les interfaces modernes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486400" cy="1600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Poppins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Géométrique · Polyvalente · Populaire en portfolios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5486400" cy="1600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Playfair Display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Serif · Élégant · Bon pour les titres de portfolios créatifs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486400" cy="1600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Roboto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Sans-serif · Standard Material Design · Ultra lisible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5486400" cy="1600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Lato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Humaniste · Chaleureuse · Convient au corps de texte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572000"/>
            <a:ext cx="5486400" cy="16002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Montserrat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Géométrique · Parfait pour les titres et sous-titres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Iconographie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Icônes standards, cohérence de style et accessibilité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· Avantages · Désavantages · Règles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25603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D6A0"/>
                </a:solidFill>
              </a:rPr>
              <a:t>✓ Avantages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Navigation plus rapide que le texte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Économise l'espace écran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Compréhensible si bien choisie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Universelle (multilingue)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303520" cy="25603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94F37"/>
                </a:solidFill>
              </a:rPr>
              <a:t>✗ Désavantages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Ambiguïté si mal conçue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Ne peut pas remplacer tous les mots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Coût de conception d'une nouvelle icône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05840"/>
            <a:ext cx="5788152" cy="53035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143000"/>
            <a:ext cx="55138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⚙ Règles de conception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Ressemblance avec la réalité externe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Aussi simple que possible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Style cohérent dans l'ensemble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Utiliser les icônes standards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• Ajouter du texte si l'icône est ambiguë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· Bibliothèques d'icônes pour Bootstrap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Bootstrap Icons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https://icons.getbootstrap.com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2000+ icônes officielles Bootstrap · CDN: &lt;link rel=stylesheet href=…&gt;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Font Awesome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https://fontawesome.com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Bibliothèque référence · Gratuit pour l'essentiel · &lt;i class='fa-solid fa-…'&gt;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Heroicons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https://heroicons.com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SVG inline ou CDN · Style Outline / Solid · Idéal pour les UIs propres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486400" cy="228600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Lucide Icons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https://lucide.dev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Fork de Feather · Minimaliste · Disponible en CDN ou package npm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Structure HTML du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Squelette sémantique HTML5 + Bootstrap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· Sections requises par le devoir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&lt;navbar&gt;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344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Navigation fixe en haut · Logo + liens ancrés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28600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&lt;#about&gt;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À propos de vous · Photo (optionnelle) · Nom · Bio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28600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&lt;#how-i-work&gt;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29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Votre façon de travailler · Cours SEG3525 · Liens utiles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79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79"/>
            <a:ext cx="228600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2627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&lt;#case-studies&gt;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2627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4 études de cas · Images cliquables · Pages placeholder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6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228600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623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&lt;footer&gt;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235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Copyright · Liens réseaux sociaux · Contact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· Code HTML — voir fichier 01_structure.html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73152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53949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&lt;!DOCTYPE html&gt;
&lt;html lang="fr"&gt;
&lt;head&gt;
  &lt;meta charset="UTF-8"&gt;
  &lt;meta name="viewport" content="width=device-width, initial-scale=1"&gt;
  &lt;title&gt;Mon Portfolio – Prénom Nom&lt;/title&gt;
  &lt;link href="https://cdn.jsdelivr.net/npm/bootstrap@5.3.3/dist/css/bootstrap.min.css" rel="stylesheet"&gt;
  &lt;link rel="stylesheet" href="css/style.css"&gt;
&lt;/head&gt;
&lt;body&gt;
  &lt;nav class="navbar navbar-expand-lg fixed-top"&gt; … &lt;/nav&gt;
  &lt;section id="hero"&gt;   … Section héro / bannière   &lt;/section&gt;
  &lt;section id="about"&gt;  … À propos                  &lt;/section&gt;
  &lt;section id="work"&gt;   … Comment je travaille       &lt;/section&gt;
  &lt;section id="cases"&gt;  … 4 Études de cas (cards)    &lt;/section&gt;
  &lt;footer&gt;              … Pied de page               &lt;/footer&gt;
  &lt;script src="https://cdn.jsdelivr.net/npm/bootstrap@5.3.3/dist/js/bootstrap.bundle.min.js"&gt;&lt;/script&gt;
&lt;/body&gt;
&lt;/html&gt;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94F37"/>
                </a:solidFill>
              </a:rPr>
              <a:t>→ Fichier code : 01_structure.html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CSS &amp;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Mise en page responsive et personnalisation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· Composants Bootstrap essentiels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10312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navbar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170432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Barre de navigation responsive · classes: navbar navbar-expand-lg navbar-dark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10312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84832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Centrage et marge auto · container / container-fluid / container-xxl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210312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row / 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99232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Grille Bootstrap 12 colonnes · col-sm-6 col-md-4 col-lg-3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210312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136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13631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Carte de projet · card card-img-top card-body card-title card-text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210312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280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btn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28031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Bouton stylé · btn btn-primary / btn-outline-light / btn-lg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77840"/>
            <a:ext cx="11274552" cy="7772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77840"/>
            <a:ext cx="2103120" cy="77724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424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section +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42431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Ancres de navigation · &lt;section id='about'&gt; + href='#about'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· CSS custom — voir fichier 02_style.css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64008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53949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/* ── Variables de thème ── */
:root {
  --color-primary:   #E94F37;
  --color-dark:      #1A1A2E;
  --color-text:      #CCCCCC;
  --font-heading:    'Poppins', sans-serif;
  --font-body:       'Inter', sans-serif;
}
/* ── Typographie globale ── */
body { font-family: var(--font-body); background: var(--color-dark); color: var(--color-text); }
h1,h2,h3 { font-family: var(--font-heading); }
/* ── Navbar ── */
.navbar { background: rgba(26,26,46,0.95); backdrop-filter: blur(8px); }
.navbar-brand { color: var(--color-primary) !important; font-weight: 700; }
/* ── Hero section ── */
#hero { min-height: 100vh; display: flex; align-items: center; }
/* ── Cards études de cas ── */
.case-card { transition: transform .3s; }
.case-card:hover { transform: translateY(-6px);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94F37"/>
                </a:solidFill>
              </a:rPr>
              <a:t>→ Fichier code : 02_style.css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Hébergement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Netlify · GitHub Pages · Vercel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· Déployer votre portfolio en 5 étapes (Netlify)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73152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51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Créer un compte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github.com → Sign up · Créer un nouveau repo public 'portfolio'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9436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4883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Pousser votre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0603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git init · git add . · git commit -m 'Initial' · git push origin 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59436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2461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Créer un compte Netlify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03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netlify.com → Login with GitHub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79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97679"/>
            <a:ext cx="59436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80559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4339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Connecter le 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0059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New site from Git → Choisir votre repo portfolio → 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11274552" cy="96012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594360" cy="9601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40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Vérifier le lien public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Netlify génère un URL https://xxx.netlify.app · Tester sur mobile aussi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94F37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Checklist Devoir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Ce que l'AE va évaluer (remise : 24 mai à minuit)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· Checklist complète – Devoir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572000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539496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3327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Site web hébergé  (60 %)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Accessible publiquement (URL valide)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Section À propos (nom, bio, photo opt.)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Section Comment je travaille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4 cartes d'études de cas (images + titres)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4 pages placeholder ('À venir')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Palette de couleurs cohérente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Typographie lisible (2–4 polices)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Icônes Bootstrap/FA avec texte si ambigu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Design responsive (mobile/desktop)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☐ Code sur GitHub (lien dans rapport)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005840"/>
            <a:ext cx="5669280" cy="23774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566928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03327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Rapport PDF  (20 %)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554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Nom · N° étudiant · Titre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1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Expérience JS + tutoriels suivis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1945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3 portfolios d'inspiration (+ / –)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14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Lien URL hébergement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3463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Lien GitHub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154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Justification couleurs, typo, 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566160"/>
            <a:ext cx="5669280" cy="2834640"/>
          </a:xfrm>
          <a:prstGeom prst="rect">
            <a:avLst/>
          </a:prstGeom>
          <a:solidFill>
            <a:srgbClr val="39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3566160"/>
            <a:ext cx="566928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35935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Rétroaction en groupe  (20 %)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S'inscrire sur la feuille (avant 24 mai)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535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Assister à la séance (25 mai – 3 juin)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56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Analyser les projets des collègues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76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Répondre aux questions de l'AE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7972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☐ Absence = -20 % sur la note du devoir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